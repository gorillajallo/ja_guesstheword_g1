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348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tente\OneDrive\Desktop\PJA\logo_uni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868680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5979" y="70157"/>
            <a:ext cx="8531352" cy="73152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GuessTheWord</a:t>
            </a:r>
            <a:r>
              <a:rPr lang="en-US" sz="440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_G1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-150876" y="3266878"/>
            <a:ext cx="9445752" cy="45720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Progetto di Programmazione Java Avanzata - A.A. 2025/2026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1945" y="4709160"/>
            <a:ext cx="8531352" cy="36576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3A3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Versione 2.0.0 (Tag v2.0.0)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-5255" y="4160520"/>
            <a:ext cx="9445752" cy="73152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Autori del Progetto:
</a:t>
            </a:r>
            <a:r>
              <a:rPr lang="en-US" sz="1400" dirty="0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Carmine Muollo  •  William Menza  •  Sabrina Soriano  •  Davide Andrea Odierna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1364"/>
            <a:ext cx="10698480" cy="54864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Progetto e 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860796"/>
            <a:ext cx="4506836" cy="4282703"/>
          </a:xfrm>
          <a:prstGeom prst="rect">
            <a:avLst/>
          </a:prstGeom>
          <a:solidFill>
            <a:srgbClr val="F4F4F6"/>
          </a:solidFill>
          <a:ln w="12700">
            <a:solidFill>
              <a:srgbClr val="E2E2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1945" y="1005840"/>
            <a:ext cx="4572000" cy="36576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Problema Core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1945" y="1371600"/>
            <a:ext cx="4120055" cy="377190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Sincronizzazione Real-Time
</a:t>
            </a: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Gestione e sincronizzazione in tempo reale di sfide linguistiche multi-giocatore concorrenti.
</a:t>
            </a:r>
            <a:r>
              <a:rPr lang="en-US" sz="120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Concorrenza &amp; Threading
</a:t>
            </a: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Evitare il blocco (freeze) dell'interfaccia amministratore durante l'analisi asincrona dei testi.
</a:t>
            </a:r>
            <a:r>
              <a:rPr lang="en-US" sz="120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Tolleranza ai Guasti di Rete
</a:t>
            </a: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Gestione robusta di latenze e disconnessioni socket immediate senza risposte appese.
</a:t>
            </a:r>
            <a:r>
              <a:rPr lang="en-US" sz="120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Persistenza Transazionale
</a:t>
            </a: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Salvataggio coerente e ottimizzato dei match e delle classifiche globali.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61186" y="860797"/>
            <a:ext cx="4382813" cy="4282701"/>
          </a:xfrm>
          <a:prstGeom prst="rect">
            <a:avLst/>
          </a:prstGeom>
          <a:solidFill>
            <a:srgbClr val="F0EDFC"/>
          </a:solidFill>
          <a:ln w="12700">
            <a:solidFill>
              <a:srgbClr val="6747C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110130" y="868417"/>
            <a:ext cx="4572000" cy="36576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Soluzione Architetturale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297214" y="1005840"/>
            <a:ext cx="3594538" cy="3163878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4B329B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endParaRPr lang="en-US" sz="1400" b="1" dirty="0">
              <a:solidFill>
                <a:srgbClr val="4B329B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endParaRPr lang="en-US" sz="1400" b="1" dirty="0">
              <a:solidFill>
                <a:srgbClr val="4B329B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endParaRPr lang="en-US" sz="1400" b="1" dirty="0">
              <a:solidFill>
                <a:srgbClr val="4B329B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endParaRPr lang="en-US" sz="1400" b="1" dirty="0">
              <a:solidFill>
                <a:srgbClr val="4B329B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endParaRPr lang="en-US" sz="1400" b="1" dirty="0">
              <a:solidFill>
                <a:srgbClr val="4B329B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Rete asincrona Sockets TCP
</a:t>
            </a: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Architettura solida Client-Server con comunicazione bidirezionale basata su stream di caratteri.
</a:t>
            </a:r>
            <a:r>
              <a:rPr lang="en-US" sz="1200" b="1" dirty="0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Interfacce grafiche JavaFX 8
</a:t>
            </a: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UI reattive e moderne sia per l'amministratore (Server) che per i giocatori (Client).
</a:t>
            </a:r>
            <a:r>
              <a:rPr lang="en-US" sz="1200" b="1" dirty="0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Disconnessione e Ripristino
</a:t>
            </a: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Uscita istantanea dal gioco alla perdita del server, con rilevamento e riconnessione automatica.
</a:t>
            </a:r>
            <a:r>
              <a:rPr lang="en-US" sz="1200" b="1" dirty="0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Persistenza locale SQLite &amp; JDBC
</a:t>
            </a: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Driver ottimizzato a caricamento statico unico e aggregazione SQL condizionale per le statistiche.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Architettura Client-Server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19" y="1371600"/>
            <a:ext cx="2926079" cy="3127248"/>
          </a:xfrm>
          <a:prstGeom prst="rect">
            <a:avLst/>
          </a:prstGeom>
          <a:solidFill>
            <a:srgbClr val="F4F4F6"/>
          </a:solidFill>
          <a:ln w="12700">
            <a:solidFill>
              <a:srgbClr val="E2E2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Server Centrale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2543503" cy="228600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Console JavaFX Admin:
</a:t>
            </a:r>
            <a:r>
              <a:rPr lang="en-US" sz="11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Gestisce la classifica globale e lo storico delle partite.
</a:t>
            </a: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Orchestrazione Lobby:
</a:t>
            </a:r>
            <a:r>
              <a:rPr lang="en-US" sz="11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Gestisce le stanze di attesa per difficolta'.
</a:t>
            </a: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SQLite Integrato:
</a:t>
            </a:r>
            <a:r>
              <a:rPr lang="en-US" sz="11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Persistenza locale transazionale di utenti e statistiche.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52544" y="1353312"/>
            <a:ext cx="3291840" cy="3108960"/>
          </a:xfrm>
          <a:prstGeom prst="rect">
            <a:avLst/>
          </a:prstGeom>
          <a:solidFill>
            <a:srgbClr val="F4F4F6"/>
          </a:solidFill>
          <a:ln w="12700">
            <a:solidFill>
              <a:srgbClr val="E2E2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57200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Client di Gioco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1755648"/>
            <a:ext cx="2926080" cy="2542032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Interfaccia JavaFX:
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Pannelli per registrazione, lobby, gioco e storico.
</a:t>
            </a:r>
            <a:r>
              <a:rPr lang="en-US" sz="105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Stream Sockets TCP:
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Scambio dati asincrono bidirezionale in tempo reale.
</a:t>
            </a:r>
            <a:r>
              <a:rPr lang="en-US" sz="105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Polling Ripristino:
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Thread demone controlla lo stato della connessione.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-144291" y="5468112"/>
            <a:ext cx="10058400" cy="27432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05840" y="5303520"/>
            <a:ext cx="10058400" cy="73152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Flusso di Gioco &amp; Loop Real-Time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262742"/>
            <a:ext cx="8991599" cy="3758184"/>
          </a:xfrm>
          <a:prstGeom prst="rect">
            <a:avLst/>
          </a:prstGeom>
          <a:solidFill>
            <a:srgbClr val="F4F4F6"/>
          </a:solidFill>
          <a:ln w="12700">
            <a:solidFill>
              <a:srgbClr val="E2E2E6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5" name="Text 3"/>
          <p:cNvSpPr/>
          <p:nvPr/>
        </p:nvSpPr>
        <p:spPr>
          <a:xfrm>
            <a:off x="2669628" y="1262742"/>
            <a:ext cx="3909848" cy="611777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Ciclo di Esecuzione di una Partita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2401" y="1874520"/>
            <a:ext cx="5407571" cy="290322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</a:t>
            </a:r>
            <a:r>
              <a:rPr lang="en-US" sz="1200" b="1" dirty="0" err="1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Connessione</a:t>
            </a:r>
            <a:r>
              <a:rPr lang="en-US" sz="1200" b="1" dirty="0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
</a:t>
            </a: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Handshake TCP iniziale su socket tra client e server.
</a:t>
            </a:r>
            <a:r>
              <a:rPr lang="en-US" sz="1200" b="1" dirty="0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Autenticazione / Registrazione:
</a:t>
            </a: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Inserimento credenziali e verifica dell'hash SHA-256 su DB.
</a:t>
            </a:r>
            <a:r>
              <a:rPr lang="en-US" sz="1200" b="1" dirty="0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Cifratura e Preparazione Sfida:
</a:t>
            </a: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Scelta della parola chiave cifrata con il Cifrario di Cesare.</a:t>
            </a:r>
          </a:p>
          <a:p>
            <a:r>
              <a:rPr lang="en-US" sz="1200" b="1" dirty="0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</a:t>
            </a:r>
            <a:r>
              <a:rPr lang="en-US" sz="1200" b="1" dirty="0" err="1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Abbinamento</a:t>
            </a:r>
            <a:r>
              <a:rPr lang="en-US" sz="1200" b="1" dirty="0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 due client </a:t>
            </a:r>
            <a:r>
              <a:rPr lang="en-US" sz="1200" b="1" dirty="0" err="1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nella</a:t>
            </a:r>
            <a:r>
              <a:rPr lang="en-US" sz="1200" b="1" dirty="0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lobby </a:t>
            </a:r>
            <a:r>
              <a:rPr lang="en-US" sz="1200" b="1" dirty="0" err="1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d’attesa</a:t>
            </a:r>
            <a:r>
              <a:rPr lang="en-US" sz="1200" b="1" dirty="0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</a:t>
            </a:r>
            <a:r>
              <a:rPr lang="en-US" sz="120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Rilevazione</a:t>
            </a: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da </a:t>
            </a:r>
            <a:r>
              <a:rPr lang="en-US" sz="120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parte</a:t>
            </a: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del Server, di un secondo Client in </a:t>
            </a:r>
            <a:r>
              <a:rPr lang="en-US" sz="120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attesa</a:t>
            </a: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20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</a:t>
            </a: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20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</a:t>
            </a: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20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sfida</a:t>
            </a: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  pari </a:t>
            </a:r>
            <a:r>
              <a:rPr lang="en-US" sz="120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difficoltà</a:t>
            </a: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
</a:t>
            </a:r>
            <a:r>
              <a:rPr lang="en-US" sz="1200" b="1" dirty="0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Loop di Gioco &amp; Timer 60s:
</a:t>
            </a: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Inizio partita con timer grafico client e conteggio dei tentativi.
</a:t>
            </a:r>
            <a:r>
              <a:rPr lang="en-US" sz="1200" b="1" dirty="0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Validazione Risposte in Tempo Reale:
</a:t>
            </a: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Controllo delle risposte inserite e notifica immediata agli avversari.
</a:t>
            </a:r>
            <a:r>
              <a:rPr lang="en-US" sz="1200" b="1" dirty="0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Persistenza dei Risultati:
</a:t>
            </a: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Chiusura del match e scrittura transazionale delle </a:t>
            </a:r>
            <a:r>
              <a:rPr lang="en-US" sz="120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statistiche</a:t>
            </a: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20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sul</a:t>
            </a:r>
            <a:r>
              <a:rPr lang="en-US" sz="12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DB.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Logica Core: Cifratura ed Estrazione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" y="1371600"/>
            <a:ext cx="4267199" cy="3735324"/>
          </a:xfrm>
          <a:prstGeom prst="rect">
            <a:avLst/>
          </a:prstGeom>
          <a:solidFill>
            <a:srgbClr val="F0EDFC"/>
          </a:solidFill>
          <a:ln w="12700">
            <a:solidFill>
              <a:srgbClr val="6747C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4083" y="1554480"/>
            <a:ext cx="3436883" cy="36576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Algoritmo Cifrario di Cesare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7656" y="2011679"/>
            <a:ext cx="2974428" cy="2896651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Cifratura Simmetrica:
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Cifratura basata sullo scostamento (shift) dell'alfabeto di N caratteri. Applicato in modo dinamico a livello di </a:t>
            </a:r>
            <a:r>
              <a:rPr lang="en-US" sz="105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stringa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secondo la </a:t>
            </a:r>
            <a:r>
              <a:rPr lang="en-US" sz="105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difficoltà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05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selezionata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
</a:t>
            </a:r>
            <a:r>
              <a:rPr lang="en-US" sz="105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Scostamento Casuale:
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Il fattore di </a:t>
            </a:r>
            <a:r>
              <a:rPr lang="en-US" sz="105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scostamento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(shift) viene generato casualmente ad ogni partita e trasmesso in modo sicuro al client.
</a:t>
            </a:r>
            <a:r>
              <a:rPr lang="en-US" sz="105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Protezione sul Canale:
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Previene la lettura in chiaro della parola segreta analizzando il traffico socket TCP, lasciando la decodifica al client locale.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24856" y="1371600"/>
            <a:ext cx="4719144" cy="3735324"/>
          </a:xfrm>
          <a:prstGeom prst="rect">
            <a:avLst/>
          </a:prstGeom>
          <a:solidFill>
            <a:srgbClr val="F4F4F6"/>
          </a:solidFill>
          <a:ln w="12700">
            <a:solidFill>
              <a:srgbClr val="E2E2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572000" y="1554480"/>
            <a:ext cx="4330262" cy="36576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Analisi Documenti ed Estrazione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2011680"/>
            <a:ext cx="4330262" cy="276606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Analisi Statistica in Background:
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Il server analizza file di testo libero per estrarre la </a:t>
            </a:r>
            <a:r>
              <a:rPr lang="en-US" sz="105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parola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da </a:t>
            </a:r>
            <a:r>
              <a:rPr lang="en-US" sz="105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cifrare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</a:t>
            </a:r>
            <a:r>
              <a:rPr lang="en-US" sz="105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della </a:t>
            </a:r>
            <a:r>
              <a:rPr lang="en-US" sz="105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difficoltà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05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selezionata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(ad </a:t>
            </a:r>
            <a:r>
              <a:rPr lang="en-US" sz="105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esempio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per la </a:t>
            </a:r>
            <a:r>
              <a:rPr lang="en-US" sz="105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difficoltà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HARD </a:t>
            </a:r>
            <a:r>
              <a:rPr lang="en-US" sz="105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verrà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05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selzionata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05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05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parola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 </a:t>
            </a:r>
            <a:r>
              <a:rPr lang="en-US" sz="105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almeno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9 </a:t>
            </a:r>
            <a:r>
              <a:rPr lang="en-US" sz="1050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caratteri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
</a:t>
            </a:r>
            <a:r>
              <a:rPr lang="en-US" sz="1050" b="1" dirty="0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Stopwords e Filtri di Lunghezza:
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Vengono ignorate le stopword italiane piu' frequenti (articoli, preposizioni) e tutte le parole piu' corte di 4 caratteri.
</a:t>
            </a:r>
            <a:r>
              <a:rPr lang="en-US" sz="1050" b="1" dirty="0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Parola Frequente ed Fallback:
</a:t>
            </a:r>
            <a:r>
              <a:rPr lang="en-US" sz="105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Selezione della parola a frequenza piu' alta nel documento. In caso di testo vuoto, viene caricato un vocabolario di riserva.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Persistenza dei Dati e Schema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572" y="1473971"/>
            <a:ext cx="3876215" cy="3586970"/>
          </a:xfrm>
          <a:prstGeom prst="rect">
            <a:avLst/>
          </a:prstGeom>
          <a:solidFill>
            <a:srgbClr val="F4F4F6"/>
          </a:solidFill>
          <a:ln w="12700">
            <a:solidFill>
              <a:srgbClr val="E2E2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Sottosistema Database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73269" y="1371600"/>
            <a:ext cx="2926080" cy="402336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SQLite:
</a:t>
            </a:r>
            <a:r>
              <a:rPr lang="en-US" sz="11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Database relazionale locale, leggero ed integrato, che non richiede server esterni.
</a:t>
            </a: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JDBC:
</a:t>
            </a:r>
            <a:r>
              <a:rPr lang="en-US" sz="11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Accesso standardizzato con driver SQLite caricato staticamente una volta sola all'avvio (ottimizzazione v2.0).
</a:t>
            </a: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Path Dinamico:
</a:t>
            </a:r>
            <a:r>
              <a:rPr lang="en-US" sz="11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Percorso del DB ricavato programmaticamente dall'URL JDBC per la massima portabilità.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8791" y="1473971"/>
            <a:ext cx="4679206" cy="3586970"/>
          </a:xfrm>
          <a:prstGeom prst="rect">
            <a:avLst/>
          </a:prstGeom>
          <a:solidFill>
            <a:srgbClr val="F4F4F6"/>
          </a:solidFill>
          <a:ln w="12700">
            <a:solidFill>
              <a:srgbClr val="E2E2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57200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Modello e Tabelle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0" y="1828800"/>
            <a:ext cx="2926080" cy="3153103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</a:t>
            </a:r>
            <a:r>
              <a:rPr lang="en-US" sz="1100" b="1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Utenti</a:t>
            </a: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
</a:t>
            </a:r>
            <a:r>
              <a:rPr lang="it-IT" sz="1100" dirty="0">
                <a:latin typeface="Georgia" panose="02040502050405020303" pitchFamily="18" charset="0"/>
              </a:rPr>
              <a:t> memorizza l’anagrafica, le credenziali e il ruolo di ciascun utente </a:t>
            </a:r>
            <a:r>
              <a:rPr lang="en-US" sz="11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</a:t>
            </a:r>
            <a:r>
              <a:rPr lang="en-US" sz="1100" b="1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Sfide</a:t>
            </a: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
</a:t>
            </a:r>
            <a:r>
              <a:rPr lang="it-IT" sz="11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tiene traccia delle parole nascoste, dello shift del cifrario applicato, della data di</a:t>
            </a:r>
          </a:p>
          <a:p>
            <a:r>
              <a:rPr lang="it-IT" sz="11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creazione e della difficoltà associata.</a:t>
            </a:r>
            <a:r>
              <a:rPr lang="en-US" sz="11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
</a:t>
            </a: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</a:t>
            </a:r>
            <a:r>
              <a:rPr lang="en-US" sz="1100" b="1" dirty="0" err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Risultati</a:t>
            </a: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
</a:t>
            </a:r>
            <a:r>
              <a:rPr lang="it-IT" sz="1100" dirty="0">
                <a:latin typeface="Georgia" panose="02040502050405020303" pitchFamily="18" charset="0"/>
              </a:rPr>
              <a:t> rappresenta la tabella di associazione per tenere traccia dell’esito delle singole partite per ciascun partecipante.</a:t>
            </a:r>
            <a:endParaRPr lang="en-US" sz="1100" dirty="0">
              <a:solidFill>
                <a:srgbClr val="2D2D2D"/>
              </a:solidFill>
              <a:latin typeface="Georgia" panose="02040502050405020303" pitchFamily="18" charset="0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71653" y="1543970"/>
            <a:ext cx="2926080" cy="27432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0" y="2011680"/>
            <a:ext cx="2926080" cy="384048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844921" cy="54864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Concorrenza</a:t>
            </a:r>
            <a:r>
              <a:rPr lang="en-US" sz="320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Task Asincroni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" y="1371600"/>
            <a:ext cx="4562542" cy="3771900"/>
          </a:xfrm>
          <a:prstGeom prst="rect">
            <a:avLst/>
          </a:prstGeom>
          <a:solidFill>
            <a:srgbClr val="F4F4F6"/>
          </a:solidFill>
          <a:ln w="12700">
            <a:solidFill>
              <a:srgbClr val="E2E2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JavaFX Service &amp; Task API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084" y="2011680"/>
            <a:ext cx="4204138" cy="2633892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Esecuzione in Background:
</a:t>
            </a:r>
            <a:r>
              <a:rPr lang="en-US" sz="11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Il calcolo della frequenza delle parole e l'analisi I/O avvengono su thread separati (Task.call()), garantendo zero blocchi della UI.
</a:t>
            </a: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Copie Difensive delle Liste:
</a:t>
            </a:r>
            <a:r>
              <a:rPr lang="en-US" sz="11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Le liste di parole e stopword sono passate tramite copie difensive per evitare conflitti o accessi concorrenti non autorizzati.
</a:t>
            </a: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I/O basato su Caratteri:
</a:t>
            </a:r>
            <a:r>
              <a:rPr lang="en-US" sz="11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Codifica UTF-8 con BufferedReader/FileReader anziche' array di byte massivi per prevenire freeze e memory leak</a:t>
            </a:r>
            <a:r>
              <a:rPr lang="en-US" sz="14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03228" y="1371600"/>
            <a:ext cx="4340772" cy="3771900"/>
          </a:xfrm>
          <a:prstGeom prst="rect">
            <a:avLst/>
          </a:prstGeom>
          <a:solidFill>
            <a:srgbClr val="F0EDFC"/>
          </a:solidFill>
          <a:ln w="12700">
            <a:solidFill>
              <a:srgbClr val="6747C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992414" y="1554480"/>
            <a:ext cx="3983420" cy="36576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B32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Thread-Safety &amp; Rete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87007" y="2011680"/>
            <a:ext cx="3888827" cy="276606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Platform.runLater():
</a:t>
            </a:r>
            <a:r>
              <a:rPr lang="en-US" sz="11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Sincronizzazione degli aggiornamenti grafici della classifica globale della dashboard sul thread principale FX.
</a:t>
            </a:r>
            <a:r>
              <a:rPr lang="en-US" sz="110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Disconnessione Istantanea:
</a:t>
            </a:r>
            <a:r>
              <a:rPr lang="en-US" sz="11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Allo spegnimento del server, la socket client si chiude immediatamente e riporta l'utente a LoginView (no risposte socket appese).
</a:t>
            </a:r>
            <a:r>
              <a:rPr lang="en-US" sz="110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Riconnessione Dinamica:
</a:t>
            </a:r>
            <a:r>
              <a:rPr lang="en-US" sz="11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Un thread demone client fa polling del server ogni 3s e aggiorna la label di stato in verde ('Server ripristinato!') all'avvenuto riavvio.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Conclusioni</a:t>
            </a:r>
            <a:r>
              <a:rPr lang="en-US" sz="320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Live Demo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19" y="1371600"/>
            <a:ext cx="8002577" cy="3626279"/>
          </a:xfrm>
          <a:prstGeom prst="rect">
            <a:avLst/>
          </a:prstGeom>
          <a:solidFill>
            <a:srgbClr val="F4F4F6"/>
          </a:solidFill>
          <a:ln w="12700">
            <a:solidFill>
              <a:srgbClr val="E2E2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747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Architettura di Rilascio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4572000" cy="3133134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Deployment Autonomo:
</a:t>
            </a:r>
            <a:r>
              <a:rPr lang="en-US" sz="11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Separazione dei moduli in due file JAR eseguibili: client.jar e server.jar.
</a:t>
            </a: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Configurazione Zero Config:
</a:t>
            </a:r>
            <a:r>
              <a:rPr lang="en-US" sz="11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Uso esclusivo di percorsi relativi sia per il database SQLite che per gli estratti di testo per garantire il corretto funzionamento su qualsiasi macchina.
</a:t>
            </a: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Integrita' di Rete:
</a:t>
            </a:r>
            <a:r>
              <a:rPr lang="en-US" sz="1100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Gestione robusta di eccezioni Socket, chiusura ordinata degli stream ed isolamento dei canali TCP concorrenti.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92240" y="3108960"/>
            <a:ext cx="4572000" cy="1371600"/>
          </a:xfrm>
          <a:prstGeom prst="rect">
            <a:avLst/>
          </a:prstGeom>
          <a:noFill/>
          <a:ln/>
        </p:spPr>
        <p:txBody>
          <a:bodyPr wrap="square" lIns="635" tIns="1270" rIns="1270" bIns="635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1132</Words>
  <Application>Microsoft Office PowerPoint</Application>
  <PresentationFormat>Presentazione su schermo (16:9)</PresentationFormat>
  <Paragraphs>51</Paragraphs>
  <Slides>8</Slides>
  <Notes>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1" baseType="lpstr">
      <vt:lpstr>Arial</vt:lpstr>
      <vt:lpstr>Georgia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Carmine Muollo</cp:lastModifiedBy>
  <cp:revision>10</cp:revision>
  <dcterms:created xsi:type="dcterms:W3CDTF">2026-07-10T15:49:53Z</dcterms:created>
  <dcterms:modified xsi:type="dcterms:W3CDTF">2026-07-10T17:18:20Z</dcterms:modified>
</cp:coreProperties>
</file>